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9" r:id="rId3"/>
    <p:sldId id="257" r:id="rId4"/>
    <p:sldId id="258" r:id="rId5"/>
    <p:sldId id="267" r:id="rId6"/>
    <p:sldId id="270" r:id="rId7"/>
    <p:sldId id="261" r:id="rId8"/>
    <p:sldId id="266" r:id="rId9"/>
    <p:sldId id="262" r:id="rId10"/>
    <p:sldId id="263" r:id="rId11"/>
    <p:sldId id="260" r:id="rId12"/>
    <p:sldId id="264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37D47-1A5E-40AC-8E9E-75F3B0C55C69}" type="datetimeFigureOut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211E7-1A69-42E2-B520-BC346FFC4F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20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59CC965E-B9DB-4A67-97E4-9252428D829C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0955-B30E-4319-A76D-304AF4F5C859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EC8DC-6A4C-4DF4-8C1B-2C7B13B855B3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271C-4435-456E-937F-19C89BC2A124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5072-796A-4836-A271-7274EFB1A580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7BA8-9F02-443C-9B13-2DFABD4E927C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8DD5-E7D6-4A90-BCF5-2CD8129008D8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62284F27-13E1-4222-8F3E-C637554D128A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6EC056EF-A9CA-4AA1-AEEE-5A8EB09F7A9E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1C0D-F575-4965-BB58-035379BAE6C6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9E35-694A-4995-BA38-4D87112B885E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225AF3E5-7132-4F1E-9AD4-B4CC43F1B21D}" type="datetime1">
              <a:rPr lang="zh-TW" altLang="en-US" smtClean="0"/>
              <a:pPr/>
              <a:t>2022/11/21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py-modindex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ime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ime.html" TargetMode="External"/><Relationship Id="rId2" Type="http://schemas.openxmlformats.org/officeDocument/2006/relationships/hyperlink" Target="https://docs.python.org/3/py-mod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71538" y="1794935"/>
            <a:ext cx="7072362" cy="1828090"/>
          </a:xfrm>
        </p:spPr>
        <p:txBody>
          <a:bodyPr>
            <a:normAutofit/>
          </a:bodyPr>
          <a:lstStyle/>
          <a:p>
            <a:r>
              <a:rPr lang="zh-TW" altLang="en-US" sz="4400" dirty="0" smtClean="0"/>
              <a:t>匯入模組、</a:t>
            </a:r>
            <a:r>
              <a:rPr lang="en-US" altLang="zh-TW" sz="4400" dirty="0" smtClean="0"/>
              <a:t>Time </a:t>
            </a:r>
            <a:r>
              <a:rPr lang="zh-TW" altLang="en-US" sz="4400" dirty="0" smtClean="0"/>
              <a:t>模組介紹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14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學習目標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本章節介紹：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模組</a:t>
            </a:r>
            <a:r>
              <a:rPr lang="en-US" altLang="zh-TW" dirty="0" smtClean="0"/>
              <a:t>(module)</a:t>
            </a:r>
            <a:r>
              <a:rPr lang="zh-TW" altLang="en-US" dirty="0" smtClean="0"/>
              <a:t>簡介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Time </a:t>
            </a:r>
            <a:r>
              <a:rPr lang="zh-TW" altLang="en-US" dirty="0" smtClean="0"/>
              <a:t>：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 內建模組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Time</a:t>
            </a:r>
            <a:r>
              <a:rPr lang="zh-TW" altLang="en-US" dirty="0" smtClean="0"/>
              <a:t> 模組相關功能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模組：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包含有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的定義及敘述的檔案，模組內容同樣也是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程式碼，在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中能夠在其他檔案匯入</a:t>
            </a:r>
            <a:r>
              <a:rPr lang="en-US" altLang="zh-TW" dirty="0" smtClean="0"/>
              <a:t>(import)</a:t>
            </a:r>
            <a:r>
              <a:rPr lang="zh-TW" altLang="en-US" dirty="0" smtClean="0"/>
              <a:t>模組並使用模組提供的程式。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Python</a:t>
            </a:r>
            <a:r>
              <a:rPr lang="zh-TW" altLang="en-US" dirty="0" smtClean="0"/>
              <a:t>在安裝時有提供給使用者數個內建模組，而使用者也能夠自行撰寫自己的模組。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內建模組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1" y="2119256"/>
            <a:ext cx="3252976" cy="4738744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在安裝 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 的同時，也安裝了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語言的</a:t>
            </a:r>
            <a:r>
              <a:rPr lang="zh-TW" altLang="en-US" dirty="0" smtClean="0"/>
              <a:t>標準函式</a:t>
            </a:r>
            <a:r>
              <a:rPr lang="zh-TW" altLang="en-US" dirty="0" smtClean="0"/>
              <a:t>庫</a:t>
            </a:r>
            <a:r>
              <a:rPr lang="en-US" altLang="zh-TW" dirty="0" smtClean="0"/>
              <a:t>(Standard Library)</a:t>
            </a:r>
            <a:r>
              <a:rPr lang="zh-TW" altLang="en-US" dirty="0" smtClean="0"/>
              <a:t>，標準含式庫包含數個不同功能的內建模組。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2050" name="Picture 2" descr="C:\Users\SHWang\Desktop\高應\碩士\Python\ppt\resources\6_module_list-cr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2600" y="1988840"/>
            <a:ext cx="3635824" cy="3552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1619672" y="5589240"/>
            <a:ext cx="576064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2000" dirty="0" smtClean="0"/>
              <a:t>官方內建模組資訊：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>
                <a:hlinkClick r:id="rId3"/>
              </a:rPr>
              <a:t>https://docs.python.org/3/py-modindex.html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</a:t>
            </a:r>
            <a:r>
              <a:rPr lang="zh-TW" altLang="en-US" dirty="0" smtClean="0"/>
              <a:t>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Time</a:t>
            </a:r>
            <a:r>
              <a:rPr lang="zh-TW" altLang="en-US" dirty="0" smtClean="0"/>
              <a:t>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Python </a:t>
            </a:r>
            <a:r>
              <a:rPr lang="zh-TW" altLang="en-US" dirty="0" smtClean="0"/>
              <a:t>的標準程式庫所提供的模組之一，包含各種與處理時間有關的函式</a:t>
            </a:r>
            <a:r>
              <a:rPr lang="en-US" altLang="zh-TW" dirty="0" smtClean="0"/>
              <a:t>(function)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Time </a:t>
            </a:r>
            <a:r>
              <a:rPr lang="zh-TW" altLang="en-US" dirty="0" smtClean="0"/>
              <a:t>模組的功能包括：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sz="2000" dirty="0" smtClean="0"/>
              <a:t>    </a:t>
            </a:r>
            <a:r>
              <a:rPr lang="en-US" altLang="zh-TW" sz="2000" dirty="0" smtClean="0"/>
              <a:t>--</a:t>
            </a:r>
            <a:r>
              <a:rPr lang="zh-TW" altLang="en-US" sz="2000" dirty="0" smtClean="0"/>
              <a:t> 取得現在日期、時間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zh-TW" altLang="en-US" sz="2000" dirty="0" smtClean="0"/>
              <a:t>    </a:t>
            </a:r>
            <a:r>
              <a:rPr lang="en-US" altLang="zh-TW" sz="2000" dirty="0" smtClean="0"/>
              <a:t>-- </a:t>
            </a:r>
            <a:r>
              <a:rPr lang="zh-TW" altLang="en-US" sz="2000" dirty="0" smtClean="0"/>
              <a:t>取得特定時區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    -- </a:t>
            </a:r>
            <a:r>
              <a:rPr lang="zh-TW" altLang="en-US" sz="2000" dirty="0" smtClean="0"/>
              <a:t>暫停程式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zh-TW" altLang="en-US" sz="2000" dirty="0" smtClean="0"/>
              <a:t>    </a:t>
            </a:r>
            <a:r>
              <a:rPr lang="en-US" altLang="zh-TW" sz="2000" dirty="0" smtClean="0"/>
              <a:t>-- ............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</a:t>
            </a:r>
            <a:r>
              <a:rPr lang="zh-TW" altLang="en-US" dirty="0" smtClean="0"/>
              <a:t>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如需使用模組，可在程式中使用 </a:t>
            </a:r>
            <a:r>
              <a:rPr lang="en-US" altLang="zh-TW" dirty="0" smtClean="0"/>
              <a:t>import </a:t>
            </a:r>
            <a:r>
              <a:rPr lang="zh-TW" altLang="en-US" dirty="0" smtClean="0"/>
              <a:t>關鍵字匯入模組，並依照模組所定義的方式呼叫模組中的程式碼，以使用模組提供的功能。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403648" y="3930926"/>
            <a:ext cx="5832648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import </a:t>
            </a:r>
            <a:r>
              <a:rPr lang="en-US" altLang="zh-TW" dirty="0">
                <a:solidFill>
                  <a:schemeClr val="tx1"/>
                </a:solidFill>
              </a:rPr>
              <a:t>time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匯入名稱為 </a:t>
            </a:r>
            <a:r>
              <a:rPr lang="en-US" altLang="zh-TW" dirty="0">
                <a:solidFill>
                  <a:srgbClr val="FF0000"/>
                </a:solidFill>
              </a:rPr>
              <a:t>time </a:t>
            </a:r>
            <a:r>
              <a:rPr lang="zh-TW" altLang="en-US" dirty="0">
                <a:solidFill>
                  <a:srgbClr val="FF0000"/>
                </a:solidFill>
              </a:rPr>
              <a:t>的模組</a:t>
            </a:r>
          </a:p>
          <a:p>
            <a:endParaRPr lang="zh-TW" altLang="en-US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input('</a:t>
            </a:r>
            <a:r>
              <a:rPr lang="zh-TW" altLang="en-US" dirty="0">
                <a:solidFill>
                  <a:schemeClr val="tx1"/>
                </a:solidFill>
              </a:rPr>
              <a:t>按下 </a:t>
            </a:r>
            <a:r>
              <a:rPr lang="en-US" altLang="zh-TW" dirty="0">
                <a:solidFill>
                  <a:schemeClr val="tx1"/>
                </a:solidFill>
              </a:rPr>
              <a:t>Enter </a:t>
            </a:r>
            <a:r>
              <a:rPr lang="zh-TW" altLang="en-US" dirty="0">
                <a:solidFill>
                  <a:schemeClr val="tx1"/>
                </a:solidFill>
              </a:rPr>
              <a:t>開始計時</a:t>
            </a:r>
            <a:r>
              <a:rPr lang="en-US" altLang="zh-TW" dirty="0">
                <a:solidFill>
                  <a:schemeClr val="tx1"/>
                </a:solidFill>
              </a:rPr>
              <a:t>')</a:t>
            </a:r>
          </a:p>
          <a:p>
            <a:r>
              <a:rPr lang="en-US" altLang="zh-TW" dirty="0" err="1">
                <a:solidFill>
                  <a:schemeClr val="tx1"/>
                </a:solidFill>
              </a:rPr>
              <a:t>startTime</a:t>
            </a:r>
            <a:r>
              <a:rPr lang="en-US" altLang="zh-TW" dirty="0">
                <a:solidFill>
                  <a:schemeClr val="tx1"/>
                </a:solidFill>
              </a:rPr>
              <a:t> = </a:t>
            </a:r>
            <a:r>
              <a:rPr lang="en-US" altLang="zh-TW" dirty="0" err="1">
                <a:solidFill>
                  <a:srgbClr val="9900CC"/>
                </a:solidFill>
              </a:rPr>
              <a:t>time.time</a:t>
            </a:r>
            <a:r>
              <a:rPr lang="en-US" altLang="zh-TW" dirty="0">
                <a:solidFill>
                  <a:srgbClr val="9900CC"/>
                </a:solidFill>
              </a:rPr>
              <a:t>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模組所提供</a:t>
            </a:r>
            <a:r>
              <a:rPr lang="zh-TW" altLang="en-US" dirty="0">
                <a:solidFill>
                  <a:srgbClr val="FF0000"/>
                </a:solidFill>
              </a:rPr>
              <a:t>的一種函式</a:t>
            </a:r>
            <a:r>
              <a:rPr lang="en-US" altLang="zh-TW" dirty="0">
                <a:solidFill>
                  <a:srgbClr val="FF0000"/>
                </a:solidFill>
              </a:rPr>
              <a:t>(method)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回傳從</a:t>
            </a:r>
            <a:r>
              <a:rPr lang="en-US" altLang="zh-TW" dirty="0">
                <a:solidFill>
                  <a:srgbClr val="FF0000"/>
                </a:solidFill>
              </a:rPr>
              <a:t>1970</a:t>
            </a:r>
            <a:r>
              <a:rPr lang="zh-TW" altLang="en-US" dirty="0">
                <a:solidFill>
                  <a:srgbClr val="FF0000"/>
                </a:solidFill>
              </a:rPr>
              <a:t>年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月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日到現在所經過秒數的浮點數</a:t>
            </a:r>
          </a:p>
          <a:p>
            <a:r>
              <a:rPr lang="en-US" altLang="zh-TW" dirty="0" smtClean="0">
                <a:solidFill>
                  <a:schemeClr val="tx1"/>
                </a:solidFill>
              </a:rPr>
              <a:t>input</a:t>
            </a:r>
            <a:r>
              <a:rPr lang="en-US" altLang="zh-TW" dirty="0">
                <a:solidFill>
                  <a:schemeClr val="tx1"/>
                </a:solidFill>
              </a:rPr>
              <a:t>('</a:t>
            </a:r>
            <a:r>
              <a:rPr lang="zh-TW" altLang="en-US" dirty="0">
                <a:solidFill>
                  <a:schemeClr val="tx1"/>
                </a:solidFill>
              </a:rPr>
              <a:t>按下 </a:t>
            </a:r>
            <a:r>
              <a:rPr lang="en-US" altLang="zh-TW" dirty="0">
                <a:solidFill>
                  <a:schemeClr val="tx1"/>
                </a:solidFill>
              </a:rPr>
              <a:t>Enter </a:t>
            </a:r>
            <a:r>
              <a:rPr lang="zh-TW" altLang="en-US" dirty="0">
                <a:solidFill>
                  <a:schemeClr val="tx1"/>
                </a:solidFill>
              </a:rPr>
              <a:t>停止計時</a:t>
            </a:r>
            <a:r>
              <a:rPr lang="en-US" altLang="zh-TW" dirty="0">
                <a:solidFill>
                  <a:schemeClr val="tx1"/>
                </a:solidFill>
              </a:rPr>
              <a:t>')</a:t>
            </a:r>
          </a:p>
          <a:p>
            <a:r>
              <a:rPr lang="en-US" altLang="zh-TW" dirty="0" err="1">
                <a:solidFill>
                  <a:schemeClr val="tx1"/>
                </a:solidFill>
              </a:rPr>
              <a:t>endTime</a:t>
            </a:r>
            <a:r>
              <a:rPr lang="en-US" altLang="zh-TW" dirty="0">
                <a:solidFill>
                  <a:schemeClr val="tx1"/>
                </a:solidFill>
              </a:rPr>
              <a:t> = </a:t>
            </a:r>
            <a:r>
              <a:rPr lang="en-US" altLang="zh-TW" dirty="0" err="1">
                <a:solidFill>
                  <a:srgbClr val="9900CC"/>
                </a:solidFill>
              </a:rPr>
              <a:t>time.time</a:t>
            </a:r>
            <a:r>
              <a:rPr lang="en-US" altLang="zh-TW" dirty="0">
                <a:solidFill>
                  <a:srgbClr val="9900CC"/>
                </a:solidFill>
              </a:rPr>
              <a:t>()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print('</a:t>
            </a:r>
            <a:r>
              <a:rPr lang="zh-TW" altLang="en-US" dirty="0">
                <a:solidFill>
                  <a:schemeClr val="tx1"/>
                </a:solidFill>
              </a:rPr>
              <a:t>經過</a:t>
            </a:r>
            <a:r>
              <a:rPr lang="zh-TW" altLang="en-US" dirty="0" smtClean="0">
                <a:solidFill>
                  <a:schemeClr val="tx1"/>
                </a:solidFill>
              </a:rPr>
              <a:t>時間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秒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 smtClean="0">
                <a:solidFill>
                  <a:schemeClr val="tx1"/>
                </a:solidFill>
              </a:rPr>
              <a:t>：</a:t>
            </a:r>
            <a:r>
              <a:rPr lang="en-US" altLang="zh-TW" dirty="0">
                <a:solidFill>
                  <a:schemeClr val="tx1"/>
                </a:solidFill>
              </a:rPr>
              <a:t>' + </a:t>
            </a:r>
            <a:r>
              <a:rPr lang="en-US" altLang="zh-TW" dirty="0" err="1">
                <a:solidFill>
                  <a:schemeClr val="tx1"/>
                </a:solidFill>
              </a:rPr>
              <a:t>str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en-US" altLang="zh-TW" dirty="0" err="1">
                <a:solidFill>
                  <a:schemeClr val="tx1"/>
                </a:solidFill>
              </a:rPr>
              <a:t>endTime</a:t>
            </a:r>
            <a:r>
              <a:rPr lang="en-US" altLang="zh-TW" dirty="0">
                <a:solidFill>
                  <a:schemeClr val="tx1"/>
                </a:solidFill>
              </a:rPr>
              <a:t> - </a:t>
            </a:r>
            <a:r>
              <a:rPr lang="en-US" altLang="zh-TW" dirty="0" err="1">
                <a:solidFill>
                  <a:schemeClr val="tx1"/>
                </a:solidFill>
              </a:rPr>
              <a:t>startTime</a:t>
            </a:r>
            <a:r>
              <a:rPr lang="en-US" altLang="zh-TW" dirty="0">
                <a:solidFill>
                  <a:schemeClr val="tx1"/>
                </a:solidFill>
              </a:rPr>
              <a:t>))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</a:t>
            </a:r>
            <a:r>
              <a:rPr lang="zh-TW" altLang="en-US" dirty="0" smtClean="0"/>
              <a:t>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7"/>
            <a:ext cx="6196405" cy="419006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zh-TW" sz="2000" b="1" dirty="0" err="1" smtClean="0"/>
              <a:t>time.clock</a:t>
            </a:r>
            <a:r>
              <a:rPr lang="en-US" altLang="zh-TW" sz="2000" b="1" dirty="0" smtClean="0"/>
              <a:t>()</a:t>
            </a:r>
            <a:br>
              <a:rPr lang="en-US" altLang="zh-TW" sz="2000" b="1" dirty="0" smtClean="0"/>
            </a:br>
            <a:r>
              <a:rPr lang="en-US" altLang="zh-TW" sz="2000" b="1" dirty="0" smtClean="0"/>
              <a:t>- </a:t>
            </a:r>
            <a:r>
              <a:rPr lang="zh-TW" altLang="en-US" sz="2000" dirty="0" smtClean="0"/>
              <a:t>回傳第一次使用此函式到現在所經過秒數的浮點數</a:t>
            </a:r>
            <a:endParaRPr lang="en-US" altLang="zh-TW" sz="2000" dirty="0" smtClean="0"/>
          </a:p>
          <a:p>
            <a:r>
              <a:rPr lang="en-US" altLang="zh-TW" sz="2000" b="1" dirty="0" err="1" smtClean="0"/>
              <a:t>time.gmtime</a:t>
            </a:r>
            <a:r>
              <a:rPr lang="en-US" altLang="zh-TW" sz="2000" b="1" dirty="0" smtClean="0"/>
              <a:t>()</a:t>
            </a:r>
            <a:br>
              <a:rPr lang="en-US" altLang="zh-TW" sz="2000" b="1" dirty="0" smtClean="0"/>
            </a:br>
            <a:r>
              <a:rPr lang="en-US" altLang="zh-TW" sz="2000" dirty="0" smtClean="0"/>
              <a:t>- </a:t>
            </a:r>
            <a:r>
              <a:rPr lang="zh-TW" altLang="en-US" sz="2000" dirty="0" smtClean="0"/>
              <a:t>回傳現在 </a:t>
            </a:r>
            <a:r>
              <a:rPr lang="en-US" altLang="zh-TW" sz="2000" dirty="0" smtClean="0"/>
              <a:t>UTC </a:t>
            </a:r>
            <a:r>
              <a:rPr lang="zh-TW" altLang="en-US" sz="2000" dirty="0" smtClean="0"/>
              <a:t>時區的時間</a:t>
            </a:r>
            <a:endParaRPr lang="en-US" altLang="zh-TW" sz="2000" b="1" dirty="0" smtClean="0"/>
          </a:p>
          <a:p>
            <a:r>
              <a:rPr lang="en-US" altLang="zh-TW" sz="2000" b="1" dirty="0" err="1" smtClean="0"/>
              <a:t>time.localtime</a:t>
            </a:r>
            <a:r>
              <a:rPr lang="en-US" altLang="zh-TW" sz="2000" b="1" dirty="0" smtClean="0"/>
              <a:t>()</a:t>
            </a:r>
            <a:br>
              <a:rPr lang="en-US" altLang="zh-TW" sz="2000" b="1" dirty="0" smtClean="0"/>
            </a:br>
            <a:r>
              <a:rPr lang="en-US" altLang="zh-TW" sz="2000" dirty="0" smtClean="0"/>
              <a:t>- </a:t>
            </a:r>
            <a:r>
              <a:rPr lang="zh-TW" altLang="en-US" sz="2000" dirty="0" smtClean="0"/>
              <a:t>回傳現在系統時區的時間</a:t>
            </a:r>
            <a:endParaRPr lang="en-US" altLang="zh-TW" sz="2000" b="1" dirty="0" smtClean="0"/>
          </a:p>
          <a:p>
            <a:r>
              <a:rPr lang="en-US" altLang="zh-TW" sz="2000" b="1" dirty="0" err="1" smtClean="0"/>
              <a:t>time.sleep</a:t>
            </a:r>
            <a:r>
              <a:rPr lang="en-US" altLang="zh-TW" sz="2000" b="1" dirty="0" smtClean="0"/>
              <a:t>(</a:t>
            </a:r>
            <a:r>
              <a:rPr lang="en-US" altLang="zh-TW" sz="2000" b="1" i="1" u="sng" dirty="0" err="1" smtClean="0"/>
              <a:t>secs</a:t>
            </a:r>
            <a:r>
              <a:rPr lang="en-US" altLang="zh-TW" sz="2000" b="1" dirty="0" smtClean="0"/>
              <a:t>)</a:t>
            </a:r>
            <a:br>
              <a:rPr lang="en-US" altLang="zh-TW" sz="2000" b="1" dirty="0" smtClean="0"/>
            </a:br>
            <a:r>
              <a:rPr lang="en-US" altLang="zh-TW" sz="2000" dirty="0" smtClean="0"/>
              <a:t>- </a:t>
            </a:r>
            <a:r>
              <a:rPr lang="zh-TW" altLang="en-US" sz="2000" dirty="0" smtClean="0"/>
              <a:t>程式停止 </a:t>
            </a:r>
            <a:r>
              <a:rPr lang="en-US" altLang="zh-TW" sz="2000" i="1" u="sng" dirty="0" err="1" smtClean="0"/>
              <a:t>secs</a:t>
            </a:r>
            <a:r>
              <a:rPr lang="en-US" altLang="zh-TW" sz="2000" dirty="0" smtClean="0"/>
              <a:t> </a:t>
            </a:r>
            <a:r>
              <a:rPr lang="zh-TW" altLang="en-US" sz="2000" dirty="0" smtClean="0"/>
              <a:t>秒，</a:t>
            </a:r>
            <a:r>
              <a:rPr lang="en-US" altLang="zh-TW" sz="2000" i="1" u="sng" dirty="0" err="1" smtClean="0"/>
              <a:t>secs</a:t>
            </a:r>
            <a:r>
              <a:rPr lang="zh-TW" altLang="en-US" sz="2000" dirty="0" smtClean="0"/>
              <a:t> 為自行設定的變數</a:t>
            </a:r>
            <a:endParaRPr lang="en-US" altLang="zh-TW" sz="2000" b="1" dirty="0" smtClean="0"/>
          </a:p>
          <a:p>
            <a:r>
              <a:rPr lang="en-US" altLang="zh-TW" sz="2000" b="1" dirty="0" err="1" smtClean="0"/>
              <a:t>time.time</a:t>
            </a:r>
            <a:r>
              <a:rPr lang="en-US" altLang="zh-TW" sz="2000" b="1" dirty="0" smtClean="0"/>
              <a:t>()</a:t>
            </a:r>
            <a:br>
              <a:rPr lang="en-US" altLang="zh-TW" sz="2000" b="1" dirty="0" smtClean="0"/>
            </a:br>
            <a:r>
              <a:rPr lang="en-US" altLang="zh-TW" sz="2000" b="1" dirty="0" smtClean="0"/>
              <a:t>- </a:t>
            </a:r>
            <a:r>
              <a:rPr lang="zh-TW" altLang="en-US" sz="2000" dirty="0" smtClean="0">
                <a:solidFill>
                  <a:prstClr val="black"/>
                </a:solidFill>
              </a:rPr>
              <a:t>回傳從</a:t>
            </a:r>
            <a:r>
              <a:rPr lang="en-US" altLang="zh-TW" sz="2000" dirty="0" smtClean="0">
                <a:solidFill>
                  <a:prstClr val="black"/>
                </a:solidFill>
              </a:rPr>
              <a:t>1970</a:t>
            </a:r>
            <a:r>
              <a:rPr lang="zh-TW" altLang="en-US" sz="2000" dirty="0" smtClean="0">
                <a:solidFill>
                  <a:prstClr val="black"/>
                </a:solidFill>
              </a:rPr>
              <a:t>年</a:t>
            </a:r>
            <a:r>
              <a:rPr lang="en-US" altLang="zh-TW" sz="2000" dirty="0" smtClean="0">
                <a:solidFill>
                  <a:prstClr val="black"/>
                </a:solidFill>
              </a:rPr>
              <a:t>1</a:t>
            </a:r>
            <a:r>
              <a:rPr lang="zh-TW" altLang="en-US" sz="2000" dirty="0" smtClean="0">
                <a:solidFill>
                  <a:prstClr val="black"/>
                </a:solidFill>
              </a:rPr>
              <a:t>月</a:t>
            </a:r>
            <a:r>
              <a:rPr lang="en-US" altLang="zh-TW" sz="2000" dirty="0" smtClean="0">
                <a:solidFill>
                  <a:prstClr val="black"/>
                </a:solidFill>
              </a:rPr>
              <a:t>1</a:t>
            </a:r>
            <a:r>
              <a:rPr lang="zh-TW" altLang="en-US" sz="2000" dirty="0" smtClean="0">
                <a:solidFill>
                  <a:prstClr val="black"/>
                </a:solidFill>
              </a:rPr>
              <a:t>日到現在所經過秒數的浮點數</a:t>
            </a:r>
            <a:endParaRPr lang="en-US" altLang="zh-TW" sz="2000" b="1" dirty="0" smtClean="0"/>
          </a:p>
          <a:p>
            <a:r>
              <a:rPr lang="en-US" altLang="zh-TW" sz="2000" b="1" dirty="0" err="1" smtClean="0"/>
              <a:t>time.timezone</a:t>
            </a:r>
            <a:r>
              <a:rPr lang="en-US" altLang="zh-TW" sz="2000" b="1" dirty="0" smtClean="0"/>
              <a:t/>
            </a:r>
            <a:br>
              <a:rPr lang="en-US" altLang="zh-TW" sz="2000" b="1" dirty="0" smtClean="0"/>
            </a:br>
            <a:r>
              <a:rPr lang="en-US" altLang="zh-TW" sz="2000" dirty="0" smtClean="0"/>
              <a:t> - </a:t>
            </a:r>
            <a:r>
              <a:rPr lang="zh-TW" altLang="en-US" sz="2000" dirty="0" smtClean="0"/>
              <a:t>系統時區與</a:t>
            </a:r>
            <a:r>
              <a:rPr lang="en-US" altLang="zh-TW" sz="2000" dirty="0" smtClean="0"/>
              <a:t>UTC</a:t>
            </a:r>
            <a:r>
              <a:rPr lang="zh-TW" altLang="en-US" sz="2000" dirty="0" smtClean="0"/>
              <a:t>時區所相差的秒數</a:t>
            </a:r>
            <a:endParaRPr lang="en-US" altLang="zh-TW" sz="2000" b="1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</a:t>
            </a:r>
            <a:r>
              <a:rPr lang="zh-TW" altLang="en-US" dirty="0" smtClean="0"/>
              <a:t>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 smtClean="0"/>
              <a:t>time.strftime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B050"/>
                </a:solidFill>
              </a:rPr>
              <a:t>string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在函式輸入特定的字串格式，取得特定的數值或文字的字串資料。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53993"/>
              </p:ext>
            </p:extLst>
          </p:nvPr>
        </p:nvGraphicFramePr>
        <p:xfrm>
          <a:off x="4427984" y="3284984"/>
          <a:ext cx="3024336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%H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小時</a:t>
                      </a:r>
                      <a:r>
                        <a:rPr lang="en-US" altLang="zh-TW" sz="1600" dirty="0" smtClean="0"/>
                        <a:t>(24</a:t>
                      </a:r>
                      <a:r>
                        <a:rPr lang="zh-TW" altLang="en-US" sz="1600" dirty="0" smtClean="0"/>
                        <a:t>小時制</a:t>
                      </a:r>
                      <a:r>
                        <a:rPr lang="en-US" altLang="zh-TW" sz="1600" dirty="0" smtClean="0"/>
                        <a:t>) [00</a:t>
                      </a:r>
                      <a:r>
                        <a:rPr lang="en-US" altLang="zh-TW" sz="1600" baseline="0" dirty="0" smtClean="0"/>
                        <a:t> ~</a:t>
                      </a:r>
                      <a:r>
                        <a:rPr lang="en-US" altLang="zh-TW" sz="1600" dirty="0" smtClean="0"/>
                        <a:t>23]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%I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小時</a:t>
                      </a:r>
                      <a:r>
                        <a:rPr lang="en-US" altLang="zh-TW" sz="1600" dirty="0" smtClean="0"/>
                        <a:t>(12</a:t>
                      </a:r>
                      <a:r>
                        <a:rPr lang="zh-TW" altLang="en-US" sz="1600" dirty="0" smtClean="0"/>
                        <a:t>小時制</a:t>
                      </a:r>
                      <a:r>
                        <a:rPr lang="en-US" altLang="zh-TW" sz="1600" dirty="0" smtClean="0"/>
                        <a:t>) [01</a:t>
                      </a:r>
                      <a:r>
                        <a:rPr lang="en-US" altLang="zh-TW" sz="1600" baseline="0" dirty="0" smtClean="0"/>
                        <a:t> ~</a:t>
                      </a:r>
                      <a:r>
                        <a:rPr lang="en-US" altLang="zh-TW" sz="1600" dirty="0" smtClean="0"/>
                        <a:t>12]</a:t>
                      </a:r>
                      <a:endParaRPr lang="zh-TW" altLang="en-US" sz="16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%M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分鐘 </a:t>
                      </a:r>
                      <a:r>
                        <a:rPr lang="en-US" altLang="zh-TW" sz="1600" dirty="0" smtClean="0"/>
                        <a:t>[</a:t>
                      </a:r>
                      <a:r>
                        <a:rPr lang="en-US" altLang="zh-TW" sz="1600" dirty="0" smtClean="0"/>
                        <a:t>00</a:t>
                      </a:r>
                      <a:r>
                        <a:rPr lang="en-US" altLang="zh-TW" sz="1600" baseline="0" dirty="0" smtClean="0"/>
                        <a:t> </a:t>
                      </a:r>
                      <a:r>
                        <a:rPr lang="en-US" altLang="zh-TW" sz="1600" baseline="0" dirty="0" smtClean="0"/>
                        <a:t>~ </a:t>
                      </a:r>
                      <a:r>
                        <a:rPr lang="en-US" altLang="zh-TW" sz="1600" baseline="0" dirty="0" smtClean="0"/>
                        <a:t>59</a:t>
                      </a:r>
                      <a:r>
                        <a:rPr lang="en-US" altLang="zh-TW" sz="1600" dirty="0" smtClean="0"/>
                        <a:t>]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%S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秒 </a:t>
                      </a:r>
                      <a:r>
                        <a:rPr lang="en-US" altLang="zh-TW" sz="1600" dirty="0" smtClean="0"/>
                        <a:t>[00 ~ 59]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%Y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年份</a:t>
                      </a:r>
                      <a:r>
                        <a:rPr lang="en-US" altLang="zh-TW" sz="1600" dirty="0" smtClean="0"/>
                        <a:t>(</a:t>
                      </a:r>
                      <a:r>
                        <a:rPr lang="zh-TW" altLang="en-US" sz="1600" dirty="0" smtClean="0"/>
                        <a:t>西元</a:t>
                      </a:r>
                      <a:r>
                        <a:rPr lang="en-US" altLang="zh-TW" sz="1600" dirty="0" smtClean="0"/>
                        <a:t>)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%m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月份 </a:t>
                      </a:r>
                      <a:r>
                        <a:rPr lang="en-US" altLang="zh-TW" sz="1600" dirty="0" smtClean="0"/>
                        <a:t>[01 ~ 12]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%B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月份 </a:t>
                      </a:r>
                      <a:r>
                        <a:rPr lang="en-US" altLang="zh-TW" sz="1600" dirty="0" smtClean="0"/>
                        <a:t>[</a:t>
                      </a:r>
                      <a:r>
                        <a:rPr lang="zh-TW" altLang="en-US" sz="1600" dirty="0" smtClean="0"/>
                        <a:t>英文</a:t>
                      </a:r>
                      <a:r>
                        <a:rPr lang="en-US" altLang="zh-TW" sz="1600" dirty="0" smtClean="0"/>
                        <a:t>]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%d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日期 </a:t>
                      </a:r>
                      <a:r>
                        <a:rPr lang="en-US" altLang="zh-TW" sz="1600" dirty="0" smtClean="0"/>
                        <a:t>[01 ~ 31]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%p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‘AM’(</a:t>
                      </a:r>
                      <a:r>
                        <a:rPr lang="zh-TW" altLang="en-US" sz="1600" dirty="0" smtClean="0"/>
                        <a:t>上午</a:t>
                      </a:r>
                      <a:r>
                        <a:rPr lang="en-US" altLang="zh-TW" sz="1600" dirty="0" smtClean="0"/>
                        <a:t>)</a:t>
                      </a:r>
                      <a:r>
                        <a:rPr lang="zh-TW" altLang="en-US" sz="1600" dirty="0" smtClean="0"/>
                        <a:t>或</a:t>
                      </a:r>
                      <a:r>
                        <a:rPr lang="en-US" altLang="zh-TW" sz="1600" dirty="0" smtClean="0"/>
                        <a:t>’PM’(</a:t>
                      </a:r>
                      <a:r>
                        <a:rPr lang="zh-TW" altLang="en-US" sz="1600" dirty="0" smtClean="0"/>
                        <a:t>下午</a:t>
                      </a:r>
                      <a:r>
                        <a:rPr lang="en-US" altLang="zh-TW" sz="1600" dirty="0" smtClean="0"/>
                        <a:t>)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695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%Z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系統時區名稱</a:t>
                      </a:r>
                      <a:endParaRPr lang="zh-TW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763688" y="3501008"/>
            <a:ext cx="208823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/>
              <a:t>time.strftime</a:t>
            </a:r>
            <a:r>
              <a:rPr lang="en-US" altLang="zh-TW" dirty="0" smtClean="0">
                <a:solidFill>
                  <a:schemeClr val="tx1"/>
                </a:solidFill>
              </a:rPr>
              <a:t>(</a:t>
            </a:r>
            <a:r>
              <a:rPr lang="en-US" altLang="zh-TW" dirty="0">
                <a:solidFill>
                  <a:srgbClr val="00B050"/>
                </a:solidFill>
              </a:rPr>
              <a:t>'</a:t>
            </a:r>
            <a:r>
              <a:rPr lang="en-US" altLang="zh-TW" dirty="0" smtClean="0">
                <a:solidFill>
                  <a:srgbClr val="00B050"/>
                </a:solidFill>
              </a:rPr>
              <a:t>%B</a:t>
            </a:r>
            <a:r>
              <a:rPr lang="en-US" altLang="zh-TW" dirty="0">
                <a:solidFill>
                  <a:srgbClr val="00B050"/>
                </a:solidFill>
              </a:rPr>
              <a:t>'</a:t>
            </a:r>
            <a:r>
              <a:rPr lang="en-US" altLang="zh-TW" dirty="0" smtClean="0"/>
              <a:t>)</a:t>
            </a:r>
          </a:p>
          <a:p>
            <a:pPr algn="ctr"/>
            <a:endParaRPr lang="en-US" altLang="zh-TW" dirty="0" smtClean="0"/>
          </a:p>
          <a:p>
            <a:pPr algn="ctr"/>
            <a:endParaRPr lang="en-US" altLang="zh-TW" dirty="0" smtClean="0"/>
          </a:p>
          <a:p>
            <a:pPr algn="ctr"/>
            <a:r>
              <a:rPr lang="zh-TW" altLang="en-US" dirty="0" smtClean="0"/>
              <a:t>回傳字串</a:t>
            </a:r>
            <a:r>
              <a:rPr lang="en-US" altLang="zh-TW" dirty="0" smtClean="0"/>
              <a:t>’July’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547664" y="5085184"/>
            <a:ext cx="252028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/>
              <a:t>time.strftime</a:t>
            </a:r>
            <a:r>
              <a:rPr lang="en-US" altLang="zh-TW" dirty="0" smtClean="0">
                <a:solidFill>
                  <a:schemeClr val="tx1"/>
                </a:solidFill>
              </a:rPr>
              <a:t>(</a:t>
            </a:r>
            <a:r>
              <a:rPr lang="en-US" altLang="zh-TW" dirty="0">
                <a:solidFill>
                  <a:srgbClr val="00B050"/>
                </a:solidFill>
              </a:rPr>
              <a:t>'</a:t>
            </a:r>
            <a:r>
              <a:rPr lang="en-US" altLang="zh-TW" dirty="0" smtClean="0">
                <a:solidFill>
                  <a:srgbClr val="00B050"/>
                </a:solidFill>
              </a:rPr>
              <a:t>%M:%S</a:t>
            </a:r>
            <a:r>
              <a:rPr lang="en-US" altLang="zh-TW" dirty="0">
                <a:solidFill>
                  <a:srgbClr val="00B050"/>
                </a:solidFill>
              </a:rPr>
              <a:t>'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zh-TW" dirty="0" smtClean="0"/>
          </a:p>
          <a:p>
            <a:pPr algn="ctr"/>
            <a:endParaRPr lang="en-US" altLang="zh-TW" dirty="0" smtClean="0"/>
          </a:p>
          <a:p>
            <a:pPr algn="ctr"/>
            <a:r>
              <a:rPr lang="zh-TW" altLang="en-US" dirty="0" smtClean="0"/>
              <a:t>回傳字串</a:t>
            </a:r>
            <a:r>
              <a:rPr lang="en-US" altLang="zh-TW" dirty="0" smtClean="0"/>
              <a:t>’53:17’</a:t>
            </a:r>
          </a:p>
        </p:txBody>
      </p:sp>
      <p:sp>
        <p:nvSpPr>
          <p:cNvPr id="8" name="向下箭號 7"/>
          <p:cNvSpPr/>
          <p:nvPr/>
        </p:nvSpPr>
        <p:spPr>
          <a:xfrm>
            <a:off x="2555776" y="3861048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下箭號 8"/>
          <p:cNvSpPr/>
          <p:nvPr/>
        </p:nvSpPr>
        <p:spPr>
          <a:xfrm>
            <a:off x="2555776" y="544522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Time </a:t>
            </a:r>
            <a:r>
              <a:rPr lang="zh-TW" altLang="en-US" dirty="0" smtClean="0"/>
              <a:t>模組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43608" y="2119257"/>
            <a:ext cx="6984776" cy="325395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altLang="zh-TW" sz="1800" dirty="0" smtClean="0">
                <a:solidFill>
                  <a:srgbClr val="0000FF"/>
                </a:solidFill>
              </a:rPr>
              <a:t>import</a:t>
            </a:r>
            <a:r>
              <a:rPr lang="en-US" altLang="zh-TW" sz="1800" dirty="0" smtClean="0"/>
              <a:t> time</a:t>
            </a:r>
          </a:p>
          <a:p>
            <a:pPr>
              <a:buNone/>
            </a:pPr>
            <a:r>
              <a:rPr lang="en-US" altLang="zh-TW" sz="1800" dirty="0" smtClean="0"/>
              <a:t>while </a:t>
            </a:r>
            <a:r>
              <a:rPr lang="en-US" altLang="zh-TW" sz="1800" dirty="0" smtClean="0"/>
              <a:t>1</a:t>
            </a:r>
            <a:r>
              <a:rPr lang="en-US" altLang="zh-TW" sz="1800" dirty="0" smtClean="0"/>
              <a:t>:</a:t>
            </a:r>
          </a:p>
          <a:p>
            <a:pPr>
              <a:buNone/>
            </a:pPr>
            <a:r>
              <a:rPr lang="zh-TW" altLang="en-US" sz="1800" dirty="0" smtClean="0"/>
              <a:t>    </a:t>
            </a:r>
            <a:r>
              <a:rPr lang="en-US" altLang="zh-TW" sz="1800" dirty="0" smtClean="0"/>
              <a:t>period </a:t>
            </a:r>
            <a:r>
              <a:rPr lang="en-US" altLang="zh-TW" sz="1800" dirty="0"/>
              <a:t>= </a:t>
            </a:r>
            <a:r>
              <a:rPr lang="en-US" altLang="zh-TW" sz="1800" dirty="0" err="1">
                <a:solidFill>
                  <a:srgbClr val="9900CC"/>
                </a:solidFill>
              </a:rPr>
              <a:t>time.strftime</a:t>
            </a:r>
            <a:r>
              <a:rPr lang="en-US" altLang="zh-TW" sz="1800" dirty="0"/>
              <a:t>('%p')</a:t>
            </a:r>
          </a:p>
          <a:p>
            <a:pPr>
              <a:buNone/>
            </a:pPr>
            <a:r>
              <a:rPr lang="en-US" altLang="zh-TW" sz="1800" dirty="0" smtClean="0"/>
              <a:t>    </a:t>
            </a:r>
            <a:r>
              <a:rPr lang="en-US" altLang="zh-TW" sz="1800" dirty="0" smtClean="0"/>
              <a:t>if period == 'AM':</a:t>
            </a:r>
          </a:p>
          <a:p>
            <a:pPr>
              <a:buNone/>
            </a:pPr>
            <a:r>
              <a:rPr lang="en-US" altLang="zh-TW" sz="1800" dirty="0" smtClean="0"/>
              <a:t>        print(</a:t>
            </a:r>
            <a:r>
              <a:rPr lang="en-US" altLang="zh-TW" sz="1800" dirty="0" err="1" smtClean="0">
                <a:solidFill>
                  <a:srgbClr val="9900CC"/>
                </a:solidFill>
              </a:rPr>
              <a:t>time.strftime</a:t>
            </a:r>
            <a:r>
              <a:rPr lang="en-US" altLang="zh-TW" sz="1800" dirty="0" smtClean="0"/>
              <a:t>('%Y</a:t>
            </a:r>
            <a:r>
              <a:rPr lang="zh-TW" altLang="en-US" sz="1800" dirty="0" smtClean="0"/>
              <a:t>年 </a:t>
            </a:r>
            <a:r>
              <a:rPr lang="en-US" altLang="zh-TW" sz="1800" dirty="0" smtClean="0"/>
              <a:t>%m</a:t>
            </a:r>
            <a:r>
              <a:rPr lang="zh-TW" altLang="en-US" sz="1800" dirty="0" smtClean="0"/>
              <a:t>月 </a:t>
            </a:r>
            <a:r>
              <a:rPr lang="en-US" altLang="zh-TW" sz="1800" dirty="0" smtClean="0"/>
              <a:t>%d</a:t>
            </a:r>
            <a:r>
              <a:rPr lang="zh-TW" altLang="en-US" sz="1800" dirty="0" smtClean="0"/>
              <a:t>日 上午 </a:t>
            </a:r>
            <a:r>
              <a:rPr lang="en-US" altLang="zh-TW" sz="1800" dirty="0" smtClean="0"/>
              <a:t>%I</a:t>
            </a:r>
            <a:r>
              <a:rPr lang="zh-TW" altLang="en-US" sz="1800" dirty="0" smtClean="0"/>
              <a:t>時 </a:t>
            </a:r>
            <a:r>
              <a:rPr lang="en-US" altLang="zh-TW" sz="1800" dirty="0" smtClean="0"/>
              <a:t>%M</a:t>
            </a:r>
            <a:r>
              <a:rPr lang="zh-TW" altLang="en-US" sz="1800" dirty="0" smtClean="0"/>
              <a:t>分 </a:t>
            </a:r>
            <a:r>
              <a:rPr lang="en-US" altLang="zh-TW" sz="1800" dirty="0" smtClean="0"/>
              <a:t>%S</a:t>
            </a:r>
            <a:r>
              <a:rPr lang="zh-TW" altLang="en-US" sz="1800" dirty="0" smtClean="0"/>
              <a:t>秒</a:t>
            </a:r>
            <a:r>
              <a:rPr lang="en-US" altLang="zh-TW" sz="1800" dirty="0" smtClean="0"/>
              <a:t>'))</a:t>
            </a:r>
          </a:p>
          <a:p>
            <a:pPr>
              <a:buNone/>
            </a:pPr>
            <a:r>
              <a:rPr lang="en-US" altLang="zh-TW" sz="1800" dirty="0" smtClean="0"/>
              <a:t>    else:</a:t>
            </a:r>
          </a:p>
          <a:p>
            <a:pPr>
              <a:buNone/>
            </a:pPr>
            <a:r>
              <a:rPr lang="en-US" altLang="zh-TW" sz="1800" dirty="0" smtClean="0"/>
              <a:t>        print(</a:t>
            </a:r>
            <a:r>
              <a:rPr lang="en-US" altLang="zh-TW" sz="1800" dirty="0" err="1" smtClean="0">
                <a:solidFill>
                  <a:srgbClr val="9900CC"/>
                </a:solidFill>
              </a:rPr>
              <a:t>time.strftime</a:t>
            </a:r>
            <a:r>
              <a:rPr lang="en-US" altLang="zh-TW" sz="1800" dirty="0" smtClean="0"/>
              <a:t>('%Y</a:t>
            </a:r>
            <a:r>
              <a:rPr lang="zh-TW" altLang="en-US" sz="1800" dirty="0" smtClean="0"/>
              <a:t>年 </a:t>
            </a:r>
            <a:r>
              <a:rPr lang="en-US" altLang="zh-TW" sz="1800" dirty="0" smtClean="0"/>
              <a:t>%m</a:t>
            </a:r>
            <a:r>
              <a:rPr lang="zh-TW" altLang="en-US" sz="1800" dirty="0" smtClean="0"/>
              <a:t>月 </a:t>
            </a:r>
            <a:r>
              <a:rPr lang="en-US" altLang="zh-TW" sz="1800" dirty="0" smtClean="0"/>
              <a:t>%d</a:t>
            </a:r>
            <a:r>
              <a:rPr lang="zh-TW" altLang="en-US" sz="1800" dirty="0" smtClean="0"/>
              <a:t>日 下午 </a:t>
            </a:r>
            <a:r>
              <a:rPr lang="en-US" altLang="zh-TW" sz="1800" dirty="0" smtClean="0"/>
              <a:t>%I</a:t>
            </a:r>
            <a:r>
              <a:rPr lang="zh-TW" altLang="en-US" sz="1800" dirty="0" smtClean="0"/>
              <a:t>時 </a:t>
            </a:r>
            <a:r>
              <a:rPr lang="en-US" altLang="zh-TW" sz="1800" dirty="0" smtClean="0"/>
              <a:t>%M</a:t>
            </a:r>
            <a:r>
              <a:rPr lang="zh-TW" altLang="en-US" sz="1800" dirty="0" smtClean="0"/>
              <a:t>分 </a:t>
            </a:r>
            <a:r>
              <a:rPr lang="en-US" altLang="zh-TW" sz="1800" dirty="0" smtClean="0"/>
              <a:t>%S</a:t>
            </a:r>
            <a:r>
              <a:rPr lang="zh-TW" altLang="en-US" sz="1800" dirty="0" smtClean="0"/>
              <a:t>秒</a:t>
            </a:r>
            <a:r>
              <a:rPr lang="en-US" altLang="zh-TW" sz="1800" dirty="0" smtClean="0"/>
              <a:t>'))</a:t>
            </a:r>
          </a:p>
          <a:p>
            <a:pPr>
              <a:buNone/>
            </a:pPr>
            <a:r>
              <a:rPr lang="en-US" altLang="zh-TW" sz="1800" dirty="0" smtClean="0"/>
              <a:t>    </a:t>
            </a:r>
            <a:r>
              <a:rPr lang="en-US" altLang="zh-TW" sz="1800" dirty="0" err="1" smtClean="0"/>
              <a:t>time.sleep</a:t>
            </a:r>
            <a:r>
              <a:rPr lang="en-US" altLang="zh-TW" sz="1800" dirty="0" smtClean="0"/>
              <a:t>(1)</a:t>
            </a:r>
            <a:r>
              <a:rPr lang="zh-TW" altLang="en-US" sz="1800" dirty="0" smtClean="0"/>
              <a:t> </a:t>
            </a:r>
            <a:r>
              <a:rPr lang="en-US" altLang="zh-TW" sz="1800" dirty="0" smtClean="0">
                <a:solidFill>
                  <a:srgbClr val="FF0000"/>
                </a:solidFill>
              </a:rPr>
              <a:t>#</a:t>
            </a:r>
            <a:r>
              <a:rPr lang="zh-TW" altLang="en-US" sz="1800" dirty="0" smtClean="0">
                <a:solidFill>
                  <a:srgbClr val="FF0000"/>
                </a:solidFill>
              </a:rPr>
              <a:t>暫停 </a:t>
            </a:r>
            <a:r>
              <a:rPr lang="en-US" altLang="zh-TW" sz="1800" dirty="0" smtClean="0">
                <a:solidFill>
                  <a:srgbClr val="FF0000"/>
                </a:solidFill>
              </a:rPr>
              <a:t>1 </a:t>
            </a:r>
            <a:r>
              <a:rPr lang="zh-TW" altLang="en-US" sz="1800" dirty="0" smtClean="0">
                <a:solidFill>
                  <a:srgbClr val="FF0000"/>
                </a:solidFill>
              </a:rPr>
              <a:t>秒</a:t>
            </a:r>
            <a:endParaRPr lang="en-US" altLang="zh-TW" sz="1800" dirty="0" smtClean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1027" name="Picture 3" descr="C:\Users\SHWang\Desktop\高應\碩士\Python\ppt\resources\6_example-cr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5381625"/>
            <a:ext cx="3848100" cy="1476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內建模組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1" y="2119257"/>
            <a:ext cx="3180967" cy="3603812"/>
          </a:xfrm>
        </p:spPr>
        <p:txBody>
          <a:bodyPr/>
          <a:lstStyle/>
          <a:p>
            <a:r>
              <a:rPr lang="en-US" altLang="zh-TW" dirty="0" smtClean="0"/>
              <a:t>Python</a:t>
            </a:r>
            <a:r>
              <a:rPr lang="zh-TW" altLang="en-US" dirty="0" smtClean="0"/>
              <a:t>官方文件提供各模組的簡介與模組的使用方式。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1026" name="Picture 2" descr="C:\Users\SHWang\Desktop\高應\碩士\Python\ppt\resources\6_time_modu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204864"/>
            <a:ext cx="3384376" cy="33384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1475656" y="5661248"/>
            <a:ext cx="640871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2000" dirty="0" smtClean="0"/>
              <a:t>官方</a:t>
            </a:r>
            <a:r>
              <a:rPr lang="en-US" altLang="zh-TW" sz="2000" dirty="0" smtClean="0"/>
              <a:t>Time</a:t>
            </a:r>
            <a:r>
              <a:rPr lang="zh-TW" altLang="en-US" sz="2000" dirty="0" smtClean="0"/>
              <a:t>模組說明文件：</a:t>
            </a:r>
            <a:endParaRPr lang="en-US" altLang="zh-TW" sz="2000" dirty="0" smtClean="0"/>
          </a:p>
          <a:p>
            <a:r>
              <a:rPr lang="en-US" altLang="zh-TW" sz="2000" dirty="0" smtClean="0">
                <a:hlinkClick r:id="rId3"/>
              </a:rPr>
              <a:t>https://docs.python.org/3/library/time.html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設計一個倒數計時器，使用者輸入秒數後，程式會顯式開始時間和結束時間，接著每秒在螢幕輸出剩餘的時間，直到剩餘時間為</a:t>
            </a:r>
            <a:r>
              <a:rPr lang="en-US" altLang="zh-TW" dirty="0" smtClean="0"/>
              <a:t>0</a:t>
            </a:r>
            <a:r>
              <a:rPr lang="zh-TW" altLang="en-US" dirty="0" smtClean="0"/>
              <a:t>時結束程式。</a:t>
            </a:r>
            <a:endParaRPr lang="en-US" altLang="zh-TW" dirty="0" smtClean="0"/>
          </a:p>
          <a:p>
            <a:r>
              <a:rPr lang="zh-TW" altLang="en-US" dirty="0" smtClean="0"/>
              <a:t>輸出範例：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sz="2000" dirty="0" smtClean="0"/>
              <a:t>輸入</a:t>
            </a:r>
            <a:r>
              <a:rPr lang="en-US" altLang="zh-TW" sz="2000" dirty="0" smtClean="0"/>
              <a:t>3</a:t>
            </a:r>
            <a:r>
              <a:rPr lang="zh-TW" altLang="en-US" sz="2000" dirty="0" smtClean="0"/>
              <a:t>：</a:t>
            </a:r>
            <a:r>
              <a:rPr lang="en-US" altLang="zh-TW" sz="2000" dirty="0" smtClean="0"/>
              <a:t>		         </a:t>
            </a:r>
            <a:r>
              <a:rPr lang="zh-TW" altLang="en-US" sz="2000" dirty="0" smtClean="0"/>
              <a:t>輸入</a:t>
            </a:r>
            <a:r>
              <a:rPr lang="en-US" altLang="zh-TW" sz="2000" dirty="0" smtClean="0"/>
              <a:t>3930</a:t>
            </a:r>
            <a:r>
              <a:rPr lang="zh-TW" altLang="en-US" sz="2000" dirty="0" smtClean="0"/>
              <a:t>：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1026" name="Picture 2" descr="C:\Users\SHWang\Desktop\高應\碩士\Python\ppt\resources\6_q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581128"/>
            <a:ext cx="2160240" cy="17493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7" name="Picture 3" descr="C:\Users\SHWang\Desktop\高應\碩士\Python\ppt\resources\6_q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4581128"/>
            <a:ext cx="2119736" cy="1728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參考資料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網站</a:t>
            </a:r>
            <a:r>
              <a:rPr lang="en-US" altLang="zh-TW" dirty="0" smtClean="0"/>
              <a:t>:</a:t>
            </a:r>
            <a:endParaRPr lang="en-US" altLang="zh-TW" dirty="0" smtClean="0">
              <a:hlinkClick r:id="rId2"/>
            </a:endParaRPr>
          </a:p>
          <a:p>
            <a:pPr lvl="1"/>
            <a:r>
              <a:rPr lang="en-US" altLang="zh-TW" dirty="0" smtClean="0">
                <a:hlinkClick r:id="rId2"/>
              </a:rPr>
              <a:t>https://docs.python.org/3/py-modindex.html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3"/>
              </a:rPr>
              <a:t>https://docs.python.org/3/library/time.html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書籍</a:t>
            </a:r>
            <a:r>
              <a:rPr lang="en-US" altLang="zh-TW" dirty="0" smtClean="0"/>
              <a:t>:</a:t>
            </a:r>
          </a:p>
          <a:p>
            <a:pPr lvl="1"/>
            <a:r>
              <a:rPr lang="zh-TW" altLang="en-US" dirty="0" smtClean="0"/>
              <a:t>深入淺出程式設計</a:t>
            </a:r>
            <a:r>
              <a:rPr lang="en-US" altLang="zh-TW" dirty="0" smtClean="0"/>
              <a:t>(Head First Programming)(2011)</a:t>
            </a:r>
            <a:r>
              <a:rPr lang="zh-TW" altLang="en-US" dirty="0" smtClean="0"/>
              <a:t>。</a:t>
            </a:r>
            <a:r>
              <a:rPr lang="en-US" altLang="zh-TW" dirty="0" smtClean="0"/>
              <a:t>David Griffiths</a:t>
            </a:r>
            <a:r>
              <a:rPr lang="zh-TW" altLang="en-US" dirty="0" smtClean="0"/>
              <a:t>、</a:t>
            </a:r>
            <a:r>
              <a:rPr lang="en-US" altLang="zh-TW" dirty="0" smtClean="0"/>
              <a:t>Paul Barry</a:t>
            </a:r>
            <a:r>
              <a:rPr lang="zh-TW" altLang="en-US" dirty="0" smtClean="0"/>
              <a:t>。 </a:t>
            </a:r>
            <a:r>
              <a:rPr lang="en-US" altLang="zh-TW" dirty="0" err="1" smtClean="0"/>
              <a:t>Oreilly</a:t>
            </a:r>
            <a:r>
              <a:rPr lang="zh-TW" altLang="en-US" dirty="0" smtClean="0"/>
              <a:t>歐萊禮中文圖書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1177</TotalTime>
  <Words>488</Words>
  <Application>Microsoft Office PowerPoint</Application>
  <PresentationFormat>如螢幕大小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微軟正黑體</vt:lpstr>
      <vt:lpstr>新細明體</vt:lpstr>
      <vt:lpstr>Brush Script MT</vt:lpstr>
      <vt:lpstr>Calibri</vt:lpstr>
      <vt:lpstr>Constantia</vt:lpstr>
      <vt:lpstr>Franklin Gothic Book</vt:lpstr>
      <vt:lpstr>Rage Italic</vt:lpstr>
      <vt:lpstr>圖釘</vt:lpstr>
      <vt:lpstr>匯入模組、Time 模組介紹</vt:lpstr>
      <vt:lpstr>學習目標</vt:lpstr>
      <vt:lpstr>模組</vt:lpstr>
      <vt:lpstr>內建模組</vt:lpstr>
      <vt:lpstr>Time 模組</vt:lpstr>
      <vt:lpstr>Time 模組</vt:lpstr>
      <vt:lpstr>Time 模組</vt:lpstr>
      <vt:lpstr>Time 模組</vt:lpstr>
      <vt:lpstr>Time 模組</vt:lpstr>
      <vt:lpstr>內建模組</vt:lpstr>
      <vt:lpstr>作業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SYWang</dc:creator>
  <cp:lastModifiedBy>lbh</cp:lastModifiedBy>
  <cp:revision>370</cp:revision>
  <dcterms:created xsi:type="dcterms:W3CDTF">2015-06-03T11:45:27Z</dcterms:created>
  <dcterms:modified xsi:type="dcterms:W3CDTF">2022-11-21T03:07:40Z</dcterms:modified>
</cp:coreProperties>
</file>